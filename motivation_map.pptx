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FAB23BC-A78B-4BC4-B7BB-0AE40A80DFA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8FC2DA-E371-4669-B2E9-B91FCB60ED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BC4770-3836-4F73-9B9C-6C5D989ABA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1DBF32-3E9D-4682-BEE0-94AB84F10B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1E0CDC8-5ADF-4DD8-BA11-4D043F789A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286AB1-6013-4E57-8908-BE0BEBFD80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6FAE2E-5671-4D2A-87B3-5A73A0A651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B47431-E62F-4859-8FFB-2A4852B542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53390A-705D-425B-B573-252828A708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457200" y="1188720"/>
            <a:ext cx="63360" cy="274248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85800" y="1097280"/>
            <a:ext cx="77716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Мотивационная карта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85800" y="1874520"/>
            <a:ext cx="7771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7F77DD"/>
                </a:solidFill>
                <a:effectLst/>
                <a:uFillTx/>
                <a:latin typeface="Calibri"/>
                <a:ea typeface="Calibri"/>
              </a:rPr>
              <a:t>курса СУБД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85800" y="2743200"/>
            <a:ext cx="7314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Теория → Практика → Результат в проекте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0" y="4754880"/>
            <a:ext cx="9143280" cy="388080"/>
          </a:xfrm>
          <a:prstGeom prst="rect">
            <a:avLst/>
          </a:prstGeom>
          <a:solidFill>
            <a:srgbClr val="7F77DD">
              <a:alpha val="20000"/>
            </a:srgbClr>
          </a:solidFill>
          <a:ln w="12700">
            <a:solidFill>
              <a:srgbClr val="7F77DD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0" y="4754880"/>
            <a:ext cx="914328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 шагов · 13 тем · 1 итоговый проект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365760" y="182880"/>
            <a:ext cx="8411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A1F2E"/>
                </a:solidFill>
                <a:effectLst/>
                <a:uFillTx/>
                <a:latin typeface="Calibri"/>
                <a:ea typeface="Calibri"/>
              </a:rPr>
              <a:t>Путь через курс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65760" y="640080"/>
            <a:ext cx="841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Каждый блок — конкретный вклад в итоговый проект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457200" y="1097280"/>
            <a:ext cx="1462320" cy="1005120"/>
          </a:xfrm>
          <a:prstGeom prst="rect">
            <a:avLst/>
          </a:prstGeom>
          <a:solidFill>
            <a:srgbClr val="EEEDFE"/>
          </a:solidFill>
          <a:ln w="12700">
            <a:solidFill>
              <a:srgbClr val="7F77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457200" y="1097280"/>
            <a:ext cx="14623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7F77DD"/>
                </a:solidFill>
                <a:effectLst/>
                <a:uFillTx/>
                <a:latin typeface="Calibri"/>
                <a:ea typeface="Calibri"/>
              </a:rPr>
              <a:t>Основы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7F77DD"/>
                </a:solidFill>
                <a:effectLst/>
                <a:uFillTx/>
                <a:latin typeface="Calibri"/>
                <a:ea typeface="Calibri"/>
              </a:rPr>
              <a:t>01–03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1938240" y="1600200"/>
            <a:ext cx="192240" cy="360"/>
          </a:xfrm>
          <a:prstGeom prst="line">
            <a:avLst/>
          </a:prstGeom>
          <a:ln w="1905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2148840" y="1097280"/>
            <a:ext cx="1462320" cy="100512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2148840" y="1097280"/>
            <a:ext cx="14623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D9E75"/>
                </a:solidFill>
                <a:effectLst/>
                <a:uFillTx/>
                <a:latin typeface="Calibri"/>
                <a:ea typeface="Calibri"/>
              </a:rPr>
              <a:t>SQL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D9E75"/>
                </a:solidFill>
                <a:effectLst/>
                <a:uFillTx/>
                <a:latin typeface="Calibri"/>
                <a:ea typeface="Calibri"/>
              </a:rPr>
              <a:t>04–06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3629880" y="1600200"/>
            <a:ext cx="192240" cy="360"/>
          </a:xfrm>
          <a:prstGeom prst="line">
            <a:avLst/>
          </a:prstGeom>
          <a:ln w="1905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3840480" y="1097280"/>
            <a:ext cx="1462320" cy="1005120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3840480" y="1097280"/>
            <a:ext cx="14623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85A30"/>
                </a:solidFill>
                <a:effectLst/>
                <a:uFillTx/>
                <a:latin typeface="Calibri"/>
                <a:ea typeface="Calibri"/>
              </a:rPr>
              <a:t>Перформанс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85A30"/>
                </a:solidFill>
                <a:effectLst/>
                <a:uFillTx/>
                <a:latin typeface="Calibri"/>
                <a:ea typeface="Calibri"/>
              </a:rPr>
              <a:t>07–08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5321520" y="1600200"/>
            <a:ext cx="192240" cy="360"/>
          </a:xfrm>
          <a:prstGeom prst="line">
            <a:avLst/>
          </a:prstGeom>
          <a:ln w="1905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1"/>
          <p:cNvSpPr/>
          <p:nvPr/>
        </p:nvSpPr>
        <p:spPr>
          <a:xfrm>
            <a:off x="5532120" y="1097280"/>
            <a:ext cx="1462320" cy="1005120"/>
          </a:xfrm>
          <a:prstGeom prst="rect">
            <a:avLst/>
          </a:prstGeom>
          <a:solidFill>
            <a:srgbClr val="E6F1FB"/>
          </a:solidFill>
          <a:ln w="12700">
            <a:solidFill>
              <a:srgbClr val="378A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5532120" y="1097280"/>
            <a:ext cx="14623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78ADD"/>
                </a:solidFill>
                <a:effectLst/>
                <a:uFillTx/>
                <a:latin typeface="Calibri"/>
                <a:ea typeface="Calibri"/>
              </a:rPr>
              <a:t>Надёжность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78ADD"/>
                </a:solidFill>
                <a:effectLst/>
                <a:uFillTx/>
                <a:latin typeface="Calibri"/>
                <a:ea typeface="Calibri"/>
              </a:rPr>
              <a:t>09–10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7013160" y="1600200"/>
            <a:ext cx="192240" cy="360"/>
          </a:xfrm>
          <a:prstGeom prst="line">
            <a:avLst/>
          </a:prstGeom>
          <a:ln w="1905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7223760" y="1097280"/>
            <a:ext cx="1462320" cy="1005120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7223760" y="1097280"/>
            <a:ext cx="14623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Архитектура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11–13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6"/>
          <p:cNvSpPr/>
          <p:nvPr/>
        </p:nvSpPr>
        <p:spPr>
          <a:xfrm>
            <a:off x="457200" y="2331720"/>
            <a:ext cx="8228880" cy="6393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457200" y="23317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Итоговый проект — работающее приложение с нормализованной БД, оптимальными запросами и ACID-гарантиями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4526280" y="2130480"/>
            <a:ext cx="360" cy="182880"/>
          </a:xfrm>
          <a:prstGeom prst="line">
            <a:avLst/>
          </a:prstGeom>
          <a:ln w="1905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9"/>
          <p:cNvSpPr/>
          <p:nvPr/>
        </p:nvSpPr>
        <p:spPr>
          <a:xfrm>
            <a:off x="457200" y="3108960"/>
            <a:ext cx="1462320" cy="346680"/>
          </a:xfrm>
          <a:prstGeom prst="roundRect">
            <a:avLst>
              <a:gd name="adj" fmla="val 13158"/>
            </a:avLst>
          </a:prstGeom>
          <a:solidFill>
            <a:srgbClr val="F7F8FC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0"/>
          <p:cNvSpPr/>
          <p:nvPr/>
        </p:nvSpPr>
        <p:spPr>
          <a:xfrm>
            <a:off x="457200" y="3108960"/>
            <a:ext cx="1462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Нет дублей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1"/>
          <p:cNvSpPr/>
          <p:nvPr/>
        </p:nvSpPr>
        <p:spPr>
          <a:xfrm>
            <a:off x="2103120" y="3108960"/>
            <a:ext cx="1462320" cy="346680"/>
          </a:xfrm>
          <a:prstGeom prst="roundRect">
            <a:avLst>
              <a:gd name="adj" fmla="val 13158"/>
            </a:avLst>
          </a:prstGeom>
          <a:solidFill>
            <a:srgbClr val="F7F8FC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2"/>
          <p:cNvSpPr/>
          <p:nvPr/>
        </p:nvSpPr>
        <p:spPr>
          <a:xfrm>
            <a:off x="2103120" y="3108960"/>
            <a:ext cx="1462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Отклик &lt;50мс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3"/>
          <p:cNvSpPr/>
          <p:nvPr/>
        </p:nvSpPr>
        <p:spPr>
          <a:xfrm>
            <a:off x="3749040" y="3108960"/>
            <a:ext cx="1462320" cy="346680"/>
          </a:xfrm>
          <a:prstGeom prst="roundRect">
            <a:avLst>
              <a:gd name="adj" fmla="val 13158"/>
            </a:avLst>
          </a:prstGeom>
          <a:solidFill>
            <a:srgbClr val="F7F8FC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4"/>
          <p:cNvSpPr/>
          <p:nvPr/>
        </p:nvSpPr>
        <p:spPr>
          <a:xfrm>
            <a:off x="3749040" y="3108960"/>
            <a:ext cx="1462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ACID-гарантии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5"/>
          <p:cNvSpPr/>
          <p:nvPr/>
        </p:nvSpPr>
        <p:spPr>
          <a:xfrm>
            <a:off x="5394960" y="3108960"/>
            <a:ext cx="1462320" cy="346680"/>
          </a:xfrm>
          <a:prstGeom prst="roundRect">
            <a:avLst>
              <a:gd name="adj" fmla="val 13158"/>
            </a:avLst>
          </a:prstGeom>
          <a:solidFill>
            <a:srgbClr val="F7F8FC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6"/>
          <p:cNvSpPr/>
          <p:nvPr/>
        </p:nvSpPr>
        <p:spPr>
          <a:xfrm>
            <a:off x="5394960" y="3108960"/>
            <a:ext cx="1462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Горизонтальный рост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7"/>
          <p:cNvSpPr/>
          <p:nvPr/>
        </p:nvSpPr>
        <p:spPr>
          <a:xfrm>
            <a:off x="7040880" y="3108960"/>
            <a:ext cx="1462320" cy="346680"/>
          </a:xfrm>
          <a:prstGeom prst="roundRect">
            <a:avLst>
              <a:gd name="adj" fmla="val 13158"/>
            </a:avLst>
          </a:prstGeom>
          <a:solidFill>
            <a:srgbClr val="F7F8FC"/>
          </a:solidFill>
          <a:ln w="127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8"/>
          <p:cNvSpPr/>
          <p:nvPr/>
        </p:nvSpPr>
        <p:spPr>
          <a:xfrm>
            <a:off x="7040880" y="3108960"/>
            <a:ext cx="1462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Обоснованный стек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9"/>
          <p:cNvSpPr/>
          <p:nvPr/>
        </p:nvSpPr>
        <p:spPr>
          <a:xfrm>
            <a:off x="457200" y="45262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Принцип: «Зачем мне это» — на каждом шаге, до того как начать следующий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0" y="0"/>
            <a:ext cx="200520" cy="514296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"/>
          <p:cNvSpPr/>
          <p:nvPr/>
        </p:nvSpPr>
        <p:spPr>
          <a:xfrm>
            <a:off x="347400" y="164520"/>
            <a:ext cx="1096560" cy="310320"/>
          </a:xfrm>
          <a:prstGeom prst="rect">
            <a:avLst/>
          </a:prstGeom>
          <a:solidFill>
            <a:srgbClr val="EEEDFE"/>
          </a:solidFill>
          <a:ln w="12700">
            <a:solidFill>
              <a:srgbClr val="7F77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347400" y="164520"/>
            <a:ext cx="1096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F77DD"/>
                </a:solidFill>
                <a:effectLst/>
                <a:uFillTx/>
                <a:latin typeface="Calibri"/>
                <a:ea typeface="Calibri"/>
              </a:rPr>
              <a:t>Шаг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"/>
          <p:cNvSpPr/>
          <p:nvPr/>
        </p:nvSpPr>
        <p:spPr>
          <a:xfrm>
            <a:off x="1554480" y="137160"/>
            <a:ext cx="7131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A1F2E"/>
                </a:solidFill>
                <a:effectLst/>
                <a:uFillTx/>
                <a:latin typeface="Calibri"/>
                <a:ea typeface="Calibri"/>
              </a:rPr>
              <a:t>Основы и модели данных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"/>
          <p:cNvSpPr/>
          <p:nvPr/>
        </p:nvSpPr>
        <p:spPr>
          <a:xfrm>
            <a:off x="320040" y="713160"/>
            <a:ext cx="2651040" cy="237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5"/>
          <p:cNvSpPr/>
          <p:nvPr/>
        </p:nvSpPr>
        <p:spPr>
          <a:xfrm>
            <a:off x="320040" y="713160"/>
            <a:ext cx="63360" cy="23767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484560" y="850320"/>
            <a:ext cx="410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F77DD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7"/>
          <p:cNvSpPr/>
          <p:nvPr/>
        </p:nvSpPr>
        <p:spPr>
          <a:xfrm>
            <a:off x="484560" y="1143000"/>
            <a:ext cx="2395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F2E"/>
                </a:solidFill>
                <a:effectLst/>
                <a:uFillTx/>
                <a:latin typeface="Calibri"/>
                <a:ea typeface="Calibri"/>
              </a:rPr>
              <a:t>Реляционная модель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8"/>
          <p:cNvSpPr/>
          <p:nvPr/>
        </p:nvSpPr>
        <p:spPr>
          <a:xfrm>
            <a:off x="484560" y="1600200"/>
            <a:ext cx="65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Теория: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9"/>
          <p:cNvSpPr/>
          <p:nvPr/>
        </p:nvSpPr>
        <p:spPr>
          <a:xfrm>
            <a:off x="1069920" y="1600200"/>
            <a:ext cx="1782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Таблицы, кортежи, атрибуты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0"/>
          <p:cNvSpPr/>
          <p:nvPr/>
        </p:nvSpPr>
        <p:spPr>
          <a:xfrm>
            <a:off x="457200" y="2011680"/>
            <a:ext cx="237744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484560" y="2103120"/>
            <a:ext cx="200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F77DD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2"/>
          <p:cNvSpPr/>
          <p:nvPr/>
        </p:nvSpPr>
        <p:spPr>
          <a:xfrm>
            <a:off x="667440" y="2103120"/>
            <a:ext cx="2175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F77DD"/>
                </a:solidFill>
                <a:effectLst/>
                <a:uFillTx/>
                <a:latin typeface="Calibri"/>
                <a:ea typeface="Calibri"/>
              </a:rPr>
              <a:t>Структура БД проекта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3"/>
          <p:cNvSpPr/>
          <p:nvPr/>
        </p:nvSpPr>
        <p:spPr>
          <a:xfrm>
            <a:off x="3173040" y="713160"/>
            <a:ext cx="2651040" cy="237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4"/>
          <p:cNvSpPr/>
          <p:nvPr/>
        </p:nvSpPr>
        <p:spPr>
          <a:xfrm>
            <a:off x="3173040" y="713160"/>
            <a:ext cx="63360" cy="23767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5"/>
          <p:cNvSpPr/>
          <p:nvPr/>
        </p:nvSpPr>
        <p:spPr>
          <a:xfrm>
            <a:off x="3337560" y="850320"/>
            <a:ext cx="410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F77DD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6"/>
          <p:cNvSpPr/>
          <p:nvPr/>
        </p:nvSpPr>
        <p:spPr>
          <a:xfrm>
            <a:off x="3337560" y="1143000"/>
            <a:ext cx="2395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F2E"/>
                </a:solidFill>
                <a:effectLst/>
                <a:uFillTx/>
                <a:latin typeface="Calibri"/>
                <a:ea typeface="Calibri"/>
              </a:rPr>
              <a:t>Нормализация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7"/>
          <p:cNvSpPr/>
          <p:nvPr/>
        </p:nvSpPr>
        <p:spPr>
          <a:xfrm>
            <a:off x="3337560" y="1600200"/>
            <a:ext cx="776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Теория: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8"/>
          <p:cNvSpPr/>
          <p:nvPr/>
        </p:nvSpPr>
        <p:spPr>
          <a:xfrm>
            <a:off x="3922920" y="1600200"/>
            <a:ext cx="1782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1НФ, 2НФ, 3НФ, BCNF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9"/>
          <p:cNvSpPr/>
          <p:nvPr/>
        </p:nvSpPr>
        <p:spPr>
          <a:xfrm>
            <a:off x="3309840" y="2011680"/>
            <a:ext cx="237744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0"/>
          <p:cNvSpPr/>
          <p:nvPr/>
        </p:nvSpPr>
        <p:spPr>
          <a:xfrm>
            <a:off x="3337560" y="2103120"/>
            <a:ext cx="200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F77DD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1"/>
          <p:cNvSpPr/>
          <p:nvPr/>
        </p:nvSpPr>
        <p:spPr>
          <a:xfrm>
            <a:off x="3520440" y="2103120"/>
            <a:ext cx="2175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F77DD"/>
                </a:solidFill>
                <a:effectLst/>
                <a:uFillTx/>
                <a:latin typeface="Calibri"/>
                <a:ea typeface="Calibri"/>
              </a:rPr>
              <a:t>Ноль дублей в данных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2"/>
          <p:cNvSpPr/>
          <p:nvPr/>
        </p:nvSpPr>
        <p:spPr>
          <a:xfrm>
            <a:off x="6026040" y="713160"/>
            <a:ext cx="2651040" cy="237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3"/>
          <p:cNvSpPr/>
          <p:nvPr/>
        </p:nvSpPr>
        <p:spPr>
          <a:xfrm>
            <a:off x="6026040" y="713160"/>
            <a:ext cx="63360" cy="23767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4"/>
          <p:cNvSpPr/>
          <p:nvPr/>
        </p:nvSpPr>
        <p:spPr>
          <a:xfrm>
            <a:off x="6190560" y="850320"/>
            <a:ext cx="410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F77DD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5"/>
          <p:cNvSpPr/>
          <p:nvPr/>
        </p:nvSpPr>
        <p:spPr>
          <a:xfrm>
            <a:off x="6190560" y="1143000"/>
            <a:ext cx="2395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F2E"/>
                </a:solidFill>
                <a:effectLst/>
                <a:uFillTx/>
                <a:latin typeface="Calibri"/>
                <a:ea typeface="Calibri"/>
              </a:rPr>
              <a:t>ER-диаграммы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6"/>
          <p:cNvSpPr/>
          <p:nvPr/>
        </p:nvSpPr>
        <p:spPr>
          <a:xfrm>
            <a:off x="6190560" y="1600200"/>
            <a:ext cx="667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Теория: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7"/>
          <p:cNvSpPr/>
          <p:nvPr/>
        </p:nvSpPr>
        <p:spPr>
          <a:xfrm>
            <a:off x="6775560" y="1600200"/>
            <a:ext cx="1782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Сущности, связи, кардинальность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8"/>
          <p:cNvSpPr/>
          <p:nvPr/>
        </p:nvSpPr>
        <p:spPr>
          <a:xfrm>
            <a:off x="6162840" y="2011680"/>
            <a:ext cx="237744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9"/>
          <p:cNvSpPr/>
          <p:nvPr/>
        </p:nvSpPr>
        <p:spPr>
          <a:xfrm>
            <a:off x="6190560" y="2103120"/>
            <a:ext cx="200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F77DD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0"/>
          <p:cNvSpPr/>
          <p:nvPr/>
        </p:nvSpPr>
        <p:spPr>
          <a:xfrm>
            <a:off x="6373440" y="2103120"/>
            <a:ext cx="2175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F77DD"/>
                </a:solidFill>
                <a:effectLst/>
                <a:uFillTx/>
                <a:latin typeface="Calibri"/>
                <a:ea typeface="Calibri"/>
              </a:rPr>
              <a:t>Схема готова до кода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200520" cy="514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"/>
          <p:cNvSpPr/>
          <p:nvPr/>
        </p:nvSpPr>
        <p:spPr>
          <a:xfrm>
            <a:off x="347400" y="164520"/>
            <a:ext cx="1096560" cy="31032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347400" y="164520"/>
            <a:ext cx="1096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D9E75"/>
                </a:solidFill>
                <a:effectLst/>
                <a:uFillTx/>
                <a:latin typeface="Calibri"/>
                <a:ea typeface="Calibri"/>
              </a:rPr>
              <a:t>Шаг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1554480" y="137160"/>
            <a:ext cx="7131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A1F2E"/>
                </a:solidFill>
                <a:effectLst/>
                <a:uFillTx/>
                <a:latin typeface="Calibri"/>
                <a:ea typeface="Calibri"/>
              </a:rPr>
              <a:t>SQL и манипуляция данными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4"/>
          <p:cNvSpPr/>
          <p:nvPr/>
        </p:nvSpPr>
        <p:spPr>
          <a:xfrm>
            <a:off x="320040" y="713160"/>
            <a:ext cx="2651040" cy="237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320040" y="713160"/>
            <a:ext cx="63360" cy="23767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6"/>
          <p:cNvSpPr/>
          <p:nvPr/>
        </p:nvSpPr>
        <p:spPr>
          <a:xfrm>
            <a:off x="484560" y="850320"/>
            <a:ext cx="410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D9E75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7"/>
          <p:cNvSpPr/>
          <p:nvPr/>
        </p:nvSpPr>
        <p:spPr>
          <a:xfrm>
            <a:off x="484560" y="1143000"/>
            <a:ext cx="2395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F2E"/>
                </a:solidFill>
                <a:effectLst/>
                <a:uFillTx/>
                <a:latin typeface="Calibri"/>
                <a:ea typeface="Calibri"/>
              </a:rPr>
              <a:t>DDL: CREATE / ALTER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8"/>
          <p:cNvSpPr/>
          <p:nvPr/>
        </p:nvSpPr>
        <p:spPr>
          <a:xfrm>
            <a:off x="484560" y="1600200"/>
            <a:ext cx="593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Теория: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9"/>
          <p:cNvSpPr/>
          <p:nvPr/>
        </p:nvSpPr>
        <p:spPr>
          <a:xfrm>
            <a:off x="1069920" y="1600200"/>
            <a:ext cx="1782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Типы данных, ограничения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0"/>
          <p:cNvSpPr/>
          <p:nvPr/>
        </p:nvSpPr>
        <p:spPr>
          <a:xfrm>
            <a:off x="457200" y="2011680"/>
            <a:ext cx="237744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484560" y="2103120"/>
            <a:ext cx="200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D9E75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667440" y="2103120"/>
            <a:ext cx="2175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D9E75"/>
                </a:solidFill>
                <a:effectLst/>
                <a:uFillTx/>
                <a:latin typeface="Calibri"/>
                <a:ea typeface="Calibri"/>
              </a:rPr>
              <a:t>Таблицы в БД проекта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3"/>
          <p:cNvSpPr/>
          <p:nvPr/>
        </p:nvSpPr>
        <p:spPr>
          <a:xfrm>
            <a:off x="3173040" y="713160"/>
            <a:ext cx="2651040" cy="237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4"/>
          <p:cNvSpPr/>
          <p:nvPr/>
        </p:nvSpPr>
        <p:spPr>
          <a:xfrm>
            <a:off x="3173040" y="713160"/>
            <a:ext cx="63360" cy="23767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5"/>
          <p:cNvSpPr/>
          <p:nvPr/>
        </p:nvSpPr>
        <p:spPr>
          <a:xfrm>
            <a:off x="3337560" y="850320"/>
            <a:ext cx="410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D9E75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3337560" y="1143000"/>
            <a:ext cx="2395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F2E"/>
                </a:solidFill>
                <a:effectLst/>
                <a:uFillTx/>
                <a:latin typeface="Calibri"/>
                <a:ea typeface="Calibri"/>
              </a:rPr>
              <a:t>DML: SELECT + JOIN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7"/>
          <p:cNvSpPr/>
          <p:nvPr/>
        </p:nvSpPr>
        <p:spPr>
          <a:xfrm>
            <a:off x="3337560" y="1600200"/>
            <a:ext cx="593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Теория: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8"/>
          <p:cNvSpPr/>
          <p:nvPr/>
        </p:nvSpPr>
        <p:spPr>
          <a:xfrm>
            <a:off x="3922920" y="1600200"/>
            <a:ext cx="1782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Фильтрация, агрегация, подзапросы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9"/>
          <p:cNvSpPr/>
          <p:nvPr/>
        </p:nvSpPr>
        <p:spPr>
          <a:xfrm>
            <a:off x="3309840" y="2011680"/>
            <a:ext cx="237744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0"/>
          <p:cNvSpPr/>
          <p:nvPr/>
        </p:nvSpPr>
        <p:spPr>
          <a:xfrm>
            <a:off x="3337560" y="2103120"/>
            <a:ext cx="200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D9E75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1"/>
          <p:cNvSpPr/>
          <p:nvPr/>
        </p:nvSpPr>
        <p:spPr>
          <a:xfrm>
            <a:off x="3520440" y="2103120"/>
            <a:ext cx="2175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D9E75"/>
                </a:solidFill>
                <a:effectLst/>
                <a:uFillTx/>
                <a:latin typeface="Calibri"/>
                <a:ea typeface="Calibri"/>
              </a:rPr>
              <a:t>API отдаёт нужные данные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2"/>
          <p:cNvSpPr/>
          <p:nvPr/>
        </p:nvSpPr>
        <p:spPr>
          <a:xfrm>
            <a:off x="6026040" y="713160"/>
            <a:ext cx="2651040" cy="237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3"/>
          <p:cNvSpPr/>
          <p:nvPr/>
        </p:nvSpPr>
        <p:spPr>
          <a:xfrm>
            <a:off x="6026040" y="713160"/>
            <a:ext cx="63360" cy="23767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4"/>
          <p:cNvSpPr/>
          <p:nvPr/>
        </p:nvSpPr>
        <p:spPr>
          <a:xfrm>
            <a:off x="6190560" y="850320"/>
            <a:ext cx="410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D9E75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5"/>
          <p:cNvSpPr/>
          <p:nvPr/>
        </p:nvSpPr>
        <p:spPr>
          <a:xfrm>
            <a:off x="6190560" y="1143000"/>
            <a:ext cx="2395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F2E"/>
                </a:solidFill>
                <a:effectLst/>
                <a:uFillTx/>
                <a:latin typeface="Calibri"/>
                <a:ea typeface="Calibri"/>
              </a:rPr>
              <a:t>Процедуры и триггеры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6"/>
          <p:cNvSpPr/>
          <p:nvPr/>
        </p:nvSpPr>
        <p:spPr>
          <a:xfrm>
            <a:off x="6190560" y="1600200"/>
            <a:ext cx="593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Теория: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7"/>
          <p:cNvSpPr/>
          <p:nvPr/>
        </p:nvSpPr>
        <p:spPr>
          <a:xfrm>
            <a:off x="6775560" y="1600200"/>
            <a:ext cx="1782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PL/pgSQL, автоматизация логики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8"/>
          <p:cNvSpPr/>
          <p:nvPr/>
        </p:nvSpPr>
        <p:spPr>
          <a:xfrm>
            <a:off x="6162840" y="2011680"/>
            <a:ext cx="237744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9"/>
          <p:cNvSpPr/>
          <p:nvPr/>
        </p:nvSpPr>
        <p:spPr>
          <a:xfrm>
            <a:off x="6190560" y="2103120"/>
            <a:ext cx="200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D9E75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0"/>
          <p:cNvSpPr/>
          <p:nvPr/>
        </p:nvSpPr>
        <p:spPr>
          <a:xfrm>
            <a:off x="6373440" y="2103120"/>
            <a:ext cx="2175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D9E75"/>
                </a:solidFill>
                <a:effectLst/>
                <a:uFillTx/>
                <a:latin typeface="Calibri"/>
                <a:ea typeface="Calibri"/>
              </a:rPr>
              <a:t>Бизнес-правила в БД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200520" cy="51429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"/>
          <p:cNvSpPr/>
          <p:nvPr/>
        </p:nvSpPr>
        <p:spPr>
          <a:xfrm>
            <a:off x="347400" y="164520"/>
            <a:ext cx="1096560" cy="310320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347400" y="164520"/>
            <a:ext cx="1096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85A30"/>
                </a:solidFill>
                <a:effectLst/>
                <a:uFillTx/>
                <a:latin typeface="Calibri"/>
                <a:ea typeface="Calibri"/>
              </a:rPr>
              <a:t>Шаг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1554480" y="137160"/>
            <a:ext cx="7131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A1F2E"/>
                </a:solidFill>
                <a:effectLst/>
                <a:uFillTx/>
                <a:latin typeface="Calibri"/>
                <a:ea typeface="Calibri"/>
              </a:rPr>
              <a:t>Производительность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4"/>
          <p:cNvSpPr/>
          <p:nvPr/>
        </p:nvSpPr>
        <p:spPr>
          <a:xfrm>
            <a:off x="320040" y="713160"/>
            <a:ext cx="3931200" cy="34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5"/>
          <p:cNvSpPr/>
          <p:nvPr/>
        </p:nvSpPr>
        <p:spPr>
          <a:xfrm>
            <a:off x="320040" y="713160"/>
            <a:ext cx="63360" cy="34740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484560" y="850320"/>
            <a:ext cx="410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85A30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7"/>
          <p:cNvSpPr/>
          <p:nvPr/>
        </p:nvSpPr>
        <p:spPr>
          <a:xfrm>
            <a:off x="484560" y="1143000"/>
            <a:ext cx="36752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F2E"/>
                </a:solidFill>
                <a:effectLst/>
                <a:uFillTx/>
                <a:latin typeface="Calibri"/>
                <a:ea typeface="Calibri"/>
              </a:rPr>
              <a:t>Индексы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484560" y="1600200"/>
            <a:ext cx="593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Теория: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9"/>
          <p:cNvSpPr/>
          <p:nvPr/>
        </p:nvSpPr>
        <p:spPr>
          <a:xfrm>
            <a:off x="1069920" y="1600200"/>
            <a:ext cx="3062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B-tree, Hash, составные, покрывающие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0"/>
          <p:cNvSpPr/>
          <p:nvPr/>
        </p:nvSpPr>
        <p:spPr>
          <a:xfrm>
            <a:off x="457200" y="2011680"/>
            <a:ext cx="365760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484560" y="2103120"/>
            <a:ext cx="200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85A30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2"/>
          <p:cNvSpPr/>
          <p:nvPr/>
        </p:nvSpPr>
        <p:spPr>
          <a:xfrm>
            <a:off x="667440" y="2103120"/>
            <a:ext cx="3455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85A30"/>
                </a:solidFill>
                <a:effectLst/>
                <a:uFillTx/>
                <a:latin typeface="Calibri"/>
                <a:ea typeface="Calibri"/>
              </a:rPr>
              <a:t>Скорость отклика &lt;50 мс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3"/>
          <p:cNvSpPr/>
          <p:nvPr/>
        </p:nvSpPr>
        <p:spPr>
          <a:xfrm>
            <a:off x="4480560" y="713160"/>
            <a:ext cx="3931200" cy="34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4"/>
          <p:cNvSpPr/>
          <p:nvPr/>
        </p:nvSpPr>
        <p:spPr>
          <a:xfrm>
            <a:off x="4480560" y="713160"/>
            <a:ext cx="63360" cy="34740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5"/>
          <p:cNvSpPr/>
          <p:nvPr/>
        </p:nvSpPr>
        <p:spPr>
          <a:xfrm>
            <a:off x="4645080" y="850320"/>
            <a:ext cx="410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85A30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6"/>
          <p:cNvSpPr/>
          <p:nvPr/>
        </p:nvSpPr>
        <p:spPr>
          <a:xfrm>
            <a:off x="4645080" y="1143000"/>
            <a:ext cx="36752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F2E"/>
                </a:solidFill>
                <a:effectLst/>
                <a:uFillTx/>
                <a:latin typeface="Calibri"/>
                <a:ea typeface="Calibri"/>
              </a:rPr>
              <a:t>EXPLAIN ANALYZE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7"/>
          <p:cNvSpPr/>
          <p:nvPr/>
        </p:nvSpPr>
        <p:spPr>
          <a:xfrm>
            <a:off x="4645080" y="1600200"/>
            <a:ext cx="593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Теория: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8"/>
          <p:cNvSpPr/>
          <p:nvPr/>
        </p:nvSpPr>
        <p:spPr>
          <a:xfrm>
            <a:off x="5230440" y="1600200"/>
            <a:ext cx="3062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Query planner, seq scan vs index scan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9"/>
          <p:cNvSpPr/>
          <p:nvPr/>
        </p:nvSpPr>
        <p:spPr>
          <a:xfrm>
            <a:off x="4617720" y="2011680"/>
            <a:ext cx="365760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0"/>
          <p:cNvSpPr/>
          <p:nvPr/>
        </p:nvSpPr>
        <p:spPr>
          <a:xfrm>
            <a:off x="4645080" y="2103120"/>
            <a:ext cx="200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85A30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1"/>
          <p:cNvSpPr/>
          <p:nvPr/>
        </p:nvSpPr>
        <p:spPr>
          <a:xfrm>
            <a:off x="4827960" y="2103120"/>
            <a:ext cx="3455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85A30"/>
                </a:solidFill>
                <a:effectLst/>
                <a:uFillTx/>
                <a:latin typeface="Calibri"/>
                <a:ea typeface="Calibri"/>
              </a:rPr>
              <a:t>Узкие места найдены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0" y="0"/>
            <a:ext cx="200520" cy="51429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/>
          <p:cNvSpPr/>
          <p:nvPr/>
        </p:nvSpPr>
        <p:spPr>
          <a:xfrm>
            <a:off x="347400" y="164520"/>
            <a:ext cx="1096560" cy="310320"/>
          </a:xfrm>
          <a:prstGeom prst="rect">
            <a:avLst/>
          </a:prstGeom>
          <a:solidFill>
            <a:srgbClr val="E6F1FB"/>
          </a:solidFill>
          <a:ln w="12700">
            <a:solidFill>
              <a:srgbClr val="378A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347400" y="164520"/>
            <a:ext cx="1096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78ADD"/>
                </a:solidFill>
                <a:effectLst/>
                <a:uFillTx/>
                <a:latin typeface="Calibri"/>
                <a:ea typeface="Calibri"/>
              </a:rPr>
              <a:t>Шаг 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1554480" y="137160"/>
            <a:ext cx="7131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A1F2E"/>
                </a:solidFill>
                <a:effectLst/>
                <a:uFillTx/>
                <a:latin typeface="Calibri"/>
                <a:ea typeface="Calibri"/>
              </a:rPr>
              <a:t>Надёжность и параллелизм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4"/>
          <p:cNvSpPr/>
          <p:nvPr/>
        </p:nvSpPr>
        <p:spPr>
          <a:xfrm>
            <a:off x="320040" y="713160"/>
            <a:ext cx="3931200" cy="34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5"/>
          <p:cNvSpPr/>
          <p:nvPr/>
        </p:nvSpPr>
        <p:spPr>
          <a:xfrm>
            <a:off x="320040" y="713160"/>
            <a:ext cx="63360" cy="34740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484560" y="850320"/>
            <a:ext cx="410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78ADD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484560" y="1143000"/>
            <a:ext cx="36752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F2E"/>
                </a:solidFill>
                <a:effectLst/>
                <a:uFillTx/>
                <a:latin typeface="Calibri"/>
                <a:ea typeface="Calibri"/>
              </a:rPr>
              <a:t>Транзакции и ACID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484560" y="1600200"/>
            <a:ext cx="593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Теория: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9"/>
          <p:cNvSpPr/>
          <p:nvPr/>
        </p:nvSpPr>
        <p:spPr>
          <a:xfrm>
            <a:off x="1069920" y="1600200"/>
            <a:ext cx="3062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Atomicity, Consistency, Isolation, Durability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0"/>
          <p:cNvSpPr/>
          <p:nvPr/>
        </p:nvSpPr>
        <p:spPr>
          <a:xfrm>
            <a:off x="457200" y="2011680"/>
            <a:ext cx="365760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1"/>
          <p:cNvSpPr/>
          <p:nvPr/>
        </p:nvSpPr>
        <p:spPr>
          <a:xfrm>
            <a:off x="484560" y="2103120"/>
            <a:ext cx="200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78ADD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2"/>
          <p:cNvSpPr/>
          <p:nvPr/>
        </p:nvSpPr>
        <p:spPr>
          <a:xfrm>
            <a:off x="667440" y="2103120"/>
            <a:ext cx="3455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78ADD"/>
                </a:solidFill>
                <a:effectLst/>
                <a:uFillTx/>
                <a:latin typeface="Calibri"/>
                <a:ea typeface="Calibri"/>
              </a:rPr>
              <a:t>Данные не теряются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3"/>
          <p:cNvSpPr/>
          <p:nvPr/>
        </p:nvSpPr>
        <p:spPr>
          <a:xfrm>
            <a:off x="4480560" y="713160"/>
            <a:ext cx="3931200" cy="34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4"/>
          <p:cNvSpPr/>
          <p:nvPr/>
        </p:nvSpPr>
        <p:spPr>
          <a:xfrm>
            <a:off x="4480560" y="713160"/>
            <a:ext cx="63360" cy="34740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5"/>
          <p:cNvSpPr/>
          <p:nvPr/>
        </p:nvSpPr>
        <p:spPr>
          <a:xfrm>
            <a:off x="4645080" y="850320"/>
            <a:ext cx="410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78ADD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6"/>
          <p:cNvSpPr/>
          <p:nvPr/>
        </p:nvSpPr>
        <p:spPr>
          <a:xfrm>
            <a:off x="4645080" y="1143000"/>
            <a:ext cx="36752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F2E"/>
                </a:solidFill>
                <a:effectLst/>
                <a:uFillTx/>
                <a:latin typeface="Calibri"/>
                <a:ea typeface="Calibri"/>
              </a:rPr>
              <a:t>Изоляция и блокировки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7"/>
          <p:cNvSpPr/>
          <p:nvPr/>
        </p:nvSpPr>
        <p:spPr>
          <a:xfrm>
            <a:off x="4645080" y="1600200"/>
            <a:ext cx="593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Теория: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8"/>
          <p:cNvSpPr/>
          <p:nvPr/>
        </p:nvSpPr>
        <p:spPr>
          <a:xfrm>
            <a:off x="5230440" y="1600200"/>
            <a:ext cx="3062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READ COMMITTED, REPEATABLE READ, MVCC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9"/>
          <p:cNvSpPr/>
          <p:nvPr/>
        </p:nvSpPr>
        <p:spPr>
          <a:xfrm>
            <a:off x="4617720" y="2011680"/>
            <a:ext cx="365760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0"/>
          <p:cNvSpPr/>
          <p:nvPr/>
        </p:nvSpPr>
        <p:spPr>
          <a:xfrm>
            <a:off x="4645080" y="2103120"/>
            <a:ext cx="200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78ADD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1"/>
          <p:cNvSpPr/>
          <p:nvPr/>
        </p:nvSpPr>
        <p:spPr>
          <a:xfrm>
            <a:off x="4827960" y="2103120"/>
            <a:ext cx="3455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78ADD"/>
                </a:solidFill>
                <a:effectLst/>
                <a:uFillTx/>
                <a:latin typeface="Calibri"/>
                <a:ea typeface="Calibri"/>
              </a:rPr>
              <a:t>Корректность при нагрузке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0" y="0"/>
            <a:ext cx="200520" cy="51429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"/>
          <p:cNvSpPr/>
          <p:nvPr/>
        </p:nvSpPr>
        <p:spPr>
          <a:xfrm>
            <a:off x="347400" y="164520"/>
            <a:ext cx="1096560" cy="310320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347400" y="164520"/>
            <a:ext cx="1096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Шаг 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1554480" y="137160"/>
            <a:ext cx="7131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A1F2E"/>
                </a:solidFill>
                <a:effectLst/>
                <a:uFillTx/>
                <a:latin typeface="Calibri"/>
                <a:ea typeface="Calibri"/>
              </a:rPr>
              <a:t>Архитектура и масштабирование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4"/>
          <p:cNvSpPr/>
          <p:nvPr/>
        </p:nvSpPr>
        <p:spPr>
          <a:xfrm>
            <a:off x="320040" y="713160"/>
            <a:ext cx="2651040" cy="237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5"/>
          <p:cNvSpPr/>
          <p:nvPr/>
        </p:nvSpPr>
        <p:spPr>
          <a:xfrm>
            <a:off x="320040" y="713160"/>
            <a:ext cx="63360" cy="23767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6"/>
          <p:cNvSpPr/>
          <p:nvPr/>
        </p:nvSpPr>
        <p:spPr>
          <a:xfrm>
            <a:off x="484560" y="850320"/>
            <a:ext cx="410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7"/>
          <p:cNvSpPr/>
          <p:nvPr/>
        </p:nvSpPr>
        <p:spPr>
          <a:xfrm>
            <a:off x="484560" y="1143000"/>
            <a:ext cx="2395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F2E"/>
                </a:solidFill>
                <a:effectLst/>
                <a:uFillTx/>
                <a:latin typeface="Calibri"/>
                <a:ea typeface="Calibri"/>
              </a:rPr>
              <a:t>Репликация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8"/>
          <p:cNvSpPr/>
          <p:nvPr/>
        </p:nvSpPr>
        <p:spPr>
          <a:xfrm>
            <a:off x="484560" y="1600200"/>
            <a:ext cx="593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Теория: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9"/>
          <p:cNvSpPr/>
          <p:nvPr/>
        </p:nvSpPr>
        <p:spPr>
          <a:xfrm>
            <a:off x="1069920" y="1600200"/>
            <a:ext cx="1782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Primary/Replica, WAL shipping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0"/>
          <p:cNvSpPr/>
          <p:nvPr/>
        </p:nvSpPr>
        <p:spPr>
          <a:xfrm>
            <a:off x="457200" y="2011680"/>
            <a:ext cx="237744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1"/>
          <p:cNvSpPr/>
          <p:nvPr/>
        </p:nvSpPr>
        <p:spPr>
          <a:xfrm>
            <a:off x="484560" y="2103120"/>
            <a:ext cx="200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2"/>
          <p:cNvSpPr/>
          <p:nvPr/>
        </p:nvSpPr>
        <p:spPr>
          <a:xfrm>
            <a:off x="667440" y="2103120"/>
            <a:ext cx="2175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Система не падает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3"/>
          <p:cNvSpPr/>
          <p:nvPr/>
        </p:nvSpPr>
        <p:spPr>
          <a:xfrm>
            <a:off x="3173040" y="713160"/>
            <a:ext cx="2651040" cy="237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4"/>
          <p:cNvSpPr/>
          <p:nvPr/>
        </p:nvSpPr>
        <p:spPr>
          <a:xfrm>
            <a:off x="3173040" y="713160"/>
            <a:ext cx="63360" cy="23767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5"/>
          <p:cNvSpPr/>
          <p:nvPr/>
        </p:nvSpPr>
        <p:spPr>
          <a:xfrm>
            <a:off x="3337560" y="850320"/>
            <a:ext cx="410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6"/>
          <p:cNvSpPr/>
          <p:nvPr/>
        </p:nvSpPr>
        <p:spPr>
          <a:xfrm>
            <a:off x="3337560" y="1143000"/>
            <a:ext cx="2395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F2E"/>
                </a:solidFill>
                <a:effectLst/>
                <a:uFillTx/>
                <a:latin typeface="Calibri"/>
                <a:ea typeface="Calibri"/>
              </a:rPr>
              <a:t>Шардирование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7"/>
          <p:cNvSpPr/>
          <p:nvPr/>
        </p:nvSpPr>
        <p:spPr>
          <a:xfrm>
            <a:off x="3337560" y="1600200"/>
            <a:ext cx="593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Теория: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8"/>
          <p:cNvSpPr/>
          <p:nvPr/>
        </p:nvSpPr>
        <p:spPr>
          <a:xfrm>
            <a:off x="3922920" y="1600200"/>
            <a:ext cx="1782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Horizontal scaling, партиционирование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9"/>
          <p:cNvSpPr/>
          <p:nvPr/>
        </p:nvSpPr>
        <p:spPr>
          <a:xfrm>
            <a:off x="3309840" y="2011680"/>
            <a:ext cx="237744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0"/>
          <p:cNvSpPr/>
          <p:nvPr/>
        </p:nvSpPr>
        <p:spPr>
          <a:xfrm>
            <a:off x="3337560" y="2103120"/>
            <a:ext cx="200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1"/>
          <p:cNvSpPr/>
          <p:nvPr/>
        </p:nvSpPr>
        <p:spPr>
          <a:xfrm>
            <a:off x="3520440" y="2103120"/>
            <a:ext cx="2175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БД держит 1М+ записей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2"/>
          <p:cNvSpPr/>
          <p:nvPr/>
        </p:nvSpPr>
        <p:spPr>
          <a:xfrm>
            <a:off x="6026040" y="713160"/>
            <a:ext cx="2651040" cy="237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3"/>
          <p:cNvSpPr/>
          <p:nvPr/>
        </p:nvSpPr>
        <p:spPr>
          <a:xfrm>
            <a:off x="6026040" y="713160"/>
            <a:ext cx="63360" cy="23767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tIns="45000" rIns="316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4"/>
          <p:cNvSpPr/>
          <p:nvPr/>
        </p:nvSpPr>
        <p:spPr>
          <a:xfrm>
            <a:off x="6190560" y="850320"/>
            <a:ext cx="410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5"/>
          <p:cNvSpPr/>
          <p:nvPr/>
        </p:nvSpPr>
        <p:spPr>
          <a:xfrm>
            <a:off x="6190560" y="1143000"/>
            <a:ext cx="2395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1F2E"/>
                </a:solidFill>
                <a:effectLst/>
                <a:uFillTx/>
                <a:latin typeface="Calibri"/>
                <a:ea typeface="Calibri"/>
              </a:rPr>
              <a:t>NoSQL vs SQL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6"/>
          <p:cNvSpPr/>
          <p:nvPr/>
        </p:nvSpPr>
        <p:spPr>
          <a:xfrm>
            <a:off x="6190560" y="1600200"/>
            <a:ext cx="593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Теория: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7"/>
          <p:cNvSpPr/>
          <p:nvPr/>
        </p:nvSpPr>
        <p:spPr>
          <a:xfrm>
            <a:off x="6775560" y="1600200"/>
            <a:ext cx="1782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Document, Key-Value, Graph, Column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8"/>
          <p:cNvSpPr/>
          <p:nvPr/>
        </p:nvSpPr>
        <p:spPr>
          <a:xfrm>
            <a:off x="6162840" y="2011680"/>
            <a:ext cx="2377440" cy="360"/>
          </a:xfrm>
          <a:prstGeom prst="line">
            <a:avLst/>
          </a:prstGeom>
          <a:ln w="1016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9"/>
          <p:cNvSpPr/>
          <p:nvPr/>
        </p:nvSpPr>
        <p:spPr>
          <a:xfrm>
            <a:off x="6190560" y="2103120"/>
            <a:ext cx="200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0"/>
          <p:cNvSpPr/>
          <p:nvPr/>
        </p:nvSpPr>
        <p:spPr>
          <a:xfrm>
            <a:off x="6373440" y="2103120"/>
            <a:ext cx="2175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Правильный стек проекта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Итого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457200" y="71316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Всё, что изучено — работает вместе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320040" y="1188720"/>
            <a:ext cx="1508040" cy="2010960"/>
          </a:xfrm>
          <a:prstGeom prst="rect">
            <a:avLst/>
          </a:prstGeom>
          <a:solidFill>
            <a:srgbClr val="2D2F4A"/>
          </a:solidFill>
          <a:ln w="12700">
            <a:solidFill>
              <a:srgbClr val="7F77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3"/>
          <p:cNvSpPr/>
          <p:nvPr/>
        </p:nvSpPr>
        <p:spPr>
          <a:xfrm>
            <a:off x="320040" y="1188720"/>
            <a:ext cx="1508040" cy="907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320040" y="1325880"/>
            <a:ext cx="1508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7F77DD"/>
                </a:solidFill>
                <a:effectLst/>
                <a:uFillTx/>
                <a:latin typeface="Calibri"/>
                <a:ea typeface="Calibri"/>
              </a:rPr>
              <a:t>Шаг 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411480" y="1664280"/>
            <a:ext cx="1325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Нормализованная схема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6"/>
          <p:cNvSpPr/>
          <p:nvPr/>
        </p:nvSpPr>
        <p:spPr>
          <a:xfrm>
            <a:off x="2030040" y="1188720"/>
            <a:ext cx="1508040" cy="2010960"/>
          </a:xfrm>
          <a:prstGeom prst="rect">
            <a:avLst/>
          </a:prstGeom>
          <a:solidFill>
            <a:srgbClr val="1A2E2A"/>
          </a:solidFill>
          <a:ln w="127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7"/>
          <p:cNvSpPr/>
          <p:nvPr/>
        </p:nvSpPr>
        <p:spPr>
          <a:xfrm>
            <a:off x="2030040" y="1188720"/>
            <a:ext cx="1508040" cy="907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8"/>
          <p:cNvSpPr/>
          <p:nvPr/>
        </p:nvSpPr>
        <p:spPr>
          <a:xfrm>
            <a:off x="2030040" y="1325880"/>
            <a:ext cx="1508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D9E75"/>
                </a:solidFill>
                <a:effectLst/>
                <a:uFillTx/>
                <a:latin typeface="Calibri"/>
                <a:ea typeface="Calibri"/>
              </a:rPr>
              <a:t>Шаг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9"/>
          <p:cNvSpPr/>
          <p:nvPr/>
        </p:nvSpPr>
        <p:spPr>
          <a:xfrm>
            <a:off x="2121480" y="1664280"/>
            <a:ext cx="1325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Оптимальные запросы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0"/>
          <p:cNvSpPr/>
          <p:nvPr/>
        </p:nvSpPr>
        <p:spPr>
          <a:xfrm>
            <a:off x="3740040" y="1188720"/>
            <a:ext cx="1508040" cy="2010960"/>
          </a:xfrm>
          <a:prstGeom prst="rect">
            <a:avLst/>
          </a:prstGeom>
          <a:solidFill>
            <a:srgbClr val="2E2018"/>
          </a:solidFill>
          <a:ln w="12700">
            <a:solidFill>
              <a:srgbClr val="D85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1"/>
          <p:cNvSpPr/>
          <p:nvPr/>
        </p:nvSpPr>
        <p:spPr>
          <a:xfrm>
            <a:off x="3740040" y="1188720"/>
            <a:ext cx="1508040" cy="907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2"/>
          <p:cNvSpPr/>
          <p:nvPr/>
        </p:nvSpPr>
        <p:spPr>
          <a:xfrm>
            <a:off x="3740040" y="1325880"/>
            <a:ext cx="1508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D85A30"/>
                </a:solidFill>
                <a:effectLst/>
                <a:uFillTx/>
                <a:latin typeface="Calibri"/>
                <a:ea typeface="Calibri"/>
              </a:rPr>
              <a:t>Шаг 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3"/>
          <p:cNvSpPr/>
          <p:nvPr/>
        </p:nvSpPr>
        <p:spPr>
          <a:xfrm>
            <a:off x="3831480" y="1664280"/>
            <a:ext cx="1325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Индексы и быстрый отклик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4"/>
          <p:cNvSpPr/>
          <p:nvPr/>
        </p:nvSpPr>
        <p:spPr>
          <a:xfrm>
            <a:off x="5449680" y="1188720"/>
            <a:ext cx="1508040" cy="2010960"/>
          </a:xfrm>
          <a:prstGeom prst="rect">
            <a:avLst/>
          </a:prstGeom>
          <a:solidFill>
            <a:srgbClr val="18243A"/>
          </a:solidFill>
          <a:ln w="12700">
            <a:solidFill>
              <a:srgbClr val="378A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5"/>
          <p:cNvSpPr/>
          <p:nvPr/>
        </p:nvSpPr>
        <p:spPr>
          <a:xfrm>
            <a:off x="5449680" y="1188720"/>
            <a:ext cx="1508040" cy="9072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6"/>
          <p:cNvSpPr/>
          <p:nvPr/>
        </p:nvSpPr>
        <p:spPr>
          <a:xfrm>
            <a:off x="5449680" y="1325880"/>
            <a:ext cx="1508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378ADD"/>
                </a:solidFill>
                <a:effectLst/>
                <a:uFillTx/>
                <a:latin typeface="Calibri"/>
                <a:ea typeface="Calibri"/>
              </a:rPr>
              <a:t>Щаг 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7"/>
          <p:cNvSpPr/>
          <p:nvPr/>
        </p:nvSpPr>
        <p:spPr>
          <a:xfrm>
            <a:off x="5541120" y="1664280"/>
            <a:ext cx="1325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ACID-гарантии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8"/>
          <p:cNvSpPr/>
          <p:nvPr/>
        </p:nvSpPr>
        <p:spPr>
          <a:xfrm>
            <a:off x="7159680" y="1188720"/>
            <a:ext cx="1508040" cy="2010960"/>
          </a:xfrm>
          <a:prstGeom prst="rect">
            <a:avLst/>
          </a:prstGeom>
          <a:solidFill>
            <a:srgbClr val="2A2010"/>
          </a:solidFill>
          <a:ln w="12700">
            <a:solidFill>
              <a:srgbClr val="BA75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9"/>
          <p:cNvSpPr/>
          <p:nvPr/>
        </p:nvSpPr>
        <p:spPr>
          <a:xfrm>
            <a:off x="7159680" y="1188720"/>
            <a:ext cx="1508040" cy="907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0"/>
          <p:cNvSpPr/>
          <p:nvPr/>
        </p:nvSpPr>
        <p:spPr>
          <a:xfrm>
            <a:off x="7159680" y="1325880"/>
            <a:ext cx="1508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BA7517"/>
                </a:solidFill>
                <a:effectLst/>
                <a:uFillTx/>
                <a:latin typeface="Calibri"/>
                <a:ea typeface="Calibri"/>
              </a:rPr>
              <a:t>Шаг 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1"/>
          <p:cNvSpPr/>
          <p:nvPr/>
        </p:nvSpPr>
        <p:spPr>
          <a:xfrm>
            <a:off x="7251120" y="1664280"/>
            <a:ext cx="1325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Масштабируемая архитектура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2"/>
          <p:cNvSpPr/>
          <p:nvPr/>
        </p:nvSpPr>
        <p:spPr>
          <a:xfrm>
            <a:off x="320040" y="3429000"/>
            <a:ext cx="8503200" cy="639360"/>
          </a:xfrm>
          <a:prstGeom prst="rect">
            <a:avLst/>
          </a:prstGeom>
          <a:solidFill>
            <a:srgbClr val="7F77DD">
              <a:alpha val="85000"/>
            </a:srgbClr>
          </a:solidFill>
          <a:ln w="12700">
            <a:solidFill>
              <a:srgbClr val="7F77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3"/>
          <p:cNvSpPr/>
          <p:nvPr/>
        </p:nvSpPr>
        <p:spPr>
          <a:xfrm>
            <a:off x="320040" y="3429000"/>
            <a:ext cx="85032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Студент видит в СУБД инструмент решения бизнес-задач, а не набор абстрактных правил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4"/>
          <p:cNvSpPr/>
          <p:nvPr/>
        </p:nvSpPr>
        <p:spPr>
          <a:xfrm>
            <a:off x="320040" y="4709160"/>
            <a:ext cx="8503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55A70"/>
                </a:solidFill>
                <a:effectLst/>
                <a:uFillTx/>
                <a:latin typeface="Calibri"/>
                <a:ea typeface="Calibri"/>
              </a:rPr>
              <a:t>Мотивационная карта курса СУБД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LibreOffice/26.2.2.2$Linux_X86_64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2026-05-23T21:26:38Z</dcterms:created>
  <dc:creator>PptxGenJS</dc:creator>
  <dc:description/>
  <dc:language>en-US</dc:language>
  <cp:lastModifiedBy/>
  <dcterms:modified xsi:type="dcterms:W3CDTF">2026-05-24T10:58:06Z</dcterms:modified>
  <cp:revision>5</cp:revision>
  <dc:subject>PptxGenJS Presentation</dc:subject>
  <dc:title>Мотивационная карта курса СУБД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